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4"/>
  </p:normalViewPr>
  <p:slideViewPr>
    <p:cSldViewPr snapToGrid="0">
      <p:cViewPr varScale="1">
        <p:scale>
          <a:sx n="109" d="100"/>
          <a:sy n="10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0F43-8518-5340-BAFA-FFBF9064649C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D80AA-DB8C-8940-99AA-95EB46DB8010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2818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ED80AA-DB8C-8940-99AA-95EB46DB8010}" type="slidenum">
              <a:rPr lang="en-KZ" smtClean="0"/>
              <a:t>3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02632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6E888-0D52-5CCD-6619-10C032B2E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9DBE5-E927-CFC7-EB55-0B3EB7121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01AC9-3899-1698-988B-71B12DE2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8C44-3181-0D14-24A2-0A5A783D7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7372-0895-8566-69D0-5B282417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45513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BC95-22C9-1B11-9A86-FA6AF265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D0941-33CE-7F2D-A983-6334508C9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3C61-460B-BC06-D4E5-D482BF78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8D665-4291-A79E-691B-628C6BB7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2ACB0-12A6-0400-ACA1-96CAF269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87531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27E7-CB5A-0E37-BA4A-9B8AEA09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2F0B5-A1F9-432A-67E9-1438B1D02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7A036-00F2-BD67-2EAD-D0EB4508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D289C-C181-B241-6386-619282A22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11F2B-C71E-FBB3-86AC-DD4343ED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7684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2B80-A36B-D55B-24AB-CC916BDA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962D-1271-0A20-9B96-EEBE0B765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487DE-B5F0-4ADC-4B6D-E70D4D9A3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6980A-CBA4-B958-5F33-3AFB4F77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72E87-810F-1E14-4CCF-AA2934AC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6C746-D81D-F8A3-9372-C3A4509E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69625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2AA73-D02A-545F-E11C-B02F567A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F63CF-219A-255E-846C-3C6A10A42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D8A7F-0D96-28FB-4935-AC70537CD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685B0-A081-09AA-EF5D-A433AE9A9E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1E4D9-DC9B-D485-18A7-B92435EF9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4AECD7-FFA9-325A-89E7-20221670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0A661F-5426-FE33-DA4B-C456F327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752B61-B420-612E-D0A4-7DBE1CD1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418900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562B-3520-858F-F097-0F8F1E82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EDF98-6105-D662-6FE3-91BBBD3F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17D2F1-2C7B-9866-9F7F-C067D56B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9853C-14CA-313C-610C-53117D3B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74931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49482-550D-4275-55C4-6F690634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622F5-BB2F-6392-B021-FC4735E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D4AD5-971B-B3AC-0617-5CB349B0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468205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C75E3-7473-D018-E3A2-C3B22046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D595E-6E11-6375-8452-CB3B1BFB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FE711-50F1-5CED-9950-C54DA34B6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6639-3501-27CE-00E2-C875FF13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03742-9C34-3325-8762-6679ED33C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E879E-3099-AD47-D73F-C68ED922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40493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C88F-315B-8DA4-423F-B7746F4A7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25803-137F-6FD5-58A3-B11552991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B1717-C4AE-23EE-5972-602EF7B68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B00C7-BB04-9561-5FEA-08B60999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F18113-977E-D097-6BB5-44F1FC49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68269-FA01-6BB9-2828-6F99E12B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29953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89141-BA8C-94AF-2BE2-A3EEE996F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8BA1D-907F-82C2-68EA-E45B35C63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07CF9-AE71-81C5-342C-68F67880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EC419-F216-789E-4478-871C6ABB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F5AB3-32BF-09E5-23D8-D5EC7BA2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96062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5AC68-61A2-1FAF-7A2A-EDDCD65D9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E581-A84B-820B-A131-C7D2A2590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832C7-C320-D51A-50C9-81DB29D6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61025-9396-D87D-1FD8-30D8473DD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150B-D3C1-1B22-B3B8-406EC733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206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422291-A53D-6605-9DFF-54436F2E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29E8F-47EE-C408-0796-9783E91FE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C8D28-CF51-5D5E-9BA0-22D8B4FDA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8A075-A87B-FC4C-B09E-3FDFCB3B58D9}" type="datetimeFigureOut">
              <a:rPr lang="en-KZ" smtClean="0"/>
              <a:t>05.10.2026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6E076-0700-8183-60F3-7CE959F3C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737AA-38D1-D8E9-8027-F44F71AD8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2455F-9AB1-CA46-8052-C6D846B858E5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6847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6FF743B-51A7-BDDD-B715-DCDFB2ECB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629" y="-234584"/>
            <a:ext cx="15178572" cy="8854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680B52-6B96-9CF0-340B-73CBEEEC4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41400"/>
            <a:ext cx="7128631" cy="2387600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Деспотический этап правления Ивана Грозного. </a:t>
            </a:r>
            <a:endParaRPr lang="en-KZ" sz="4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645A5-BF8F-A3A5-DFE5-2C4007B20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781" y="3364618"/>
            <a:ext cx="6445405" cy="165576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Опричнина: цели, мероприятия, итоги и последствия.</a:t>
            </a:r>
            <a:endParaRPr lang="en-KZ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1D88C-1CAD-AABE-23D8-AB234580F77B}"/>
              </a:ext>
            </a:extLst>
          </p:cNvPr>
          <p:cNvSpPr txBox="1"/>
          <p:nvPr/>
        </p:nvSpPr>
        <p:spPr>
          <a:xfrm>
            <a:off x="434898" y="5913056"/>
            <a:ext cx="1537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Сбитнев И.Е.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ИБМ-12/5</a:t>
            </a:r>
            <a:endParaRPr lang="en-K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2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Иван IV: усиление личной власти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82880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87612B"/>
                </a:solidFill>
                <a:latin typeface="Aptos"/>
              </a:rPr>
              <a:t>1560-е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4160520" cy="8229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 i="0" dirty="0" err="1">
                <a:solidFill>
                  <a:srgbClr val="2A2B2D"/>
                </a:solidFill>
                <a:latin typeface="Aptos"/>
              </a:rPr>
              <a:t>После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смерти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митрополита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Макария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и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ухода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Адашева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и</a:t>
            </a:r>
            <a:r>
              <a:rPr sz="18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800" b="1" i="0" dirty="0" err="1">
                <a:solidFill>
                  <a:srgbClr val="2A2B2D"/>
                </a:solidFill>
                <a:latin typeface="Aptos"/>
              </a:rPr>
              <a:t>Сильвестра</a:t>
            </a:r>
            <a:endParaRPr sz="18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3063240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63240"/>
            <a:ext cx="402336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A2B2D"/>
                </a:solidFill>
                <a:latin typeface="Aptos"/>
              </a:rPr>
              <a:t>сужается круг советников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84448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84448"/>
            <a:ext cx="402336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A2B2D"/>
                </a:solidFill>
                <a:latin typeface="Aptos"/>
              </a:rPr>
              <a:t>растёт недоверие к «измене»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105656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105656"/>
            <a:ext cx="448056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A2B2D"/>
                </a:solidFill>
                <a:latin typeface="Aptos"/>
              </a:rPr>
              <a:t>репрессивные меры становятся системными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D9AA9D8-65E2-6237-8516-01296AF56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78458"/>
            <a:ext cx="2951592" cy="368949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62E1923-AC10-F458-C750-E1C53B519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448" y="1378458"/>
            <a:ext cx="2851151" cy="3661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Почему появилась опричнина?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1051560"/>
          </a:xfrm>
          <a:prstGeom prst="roundRect">
            <a:avLst/>
          </a:prstGeom>
          <a:solidFill>
            <a:srgbClr val="F5E8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5987" y="1597000"/>
            <a:ext cx="2148840" cy="68580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 dirty="0" err="1">
                <a:solidFill>
                  <a:srgbClr val="2A2B2D"/>
                </a:solidFill>
                <a:latin typeface="Aptos"/>
              </a:rPr>
              <a:t>Боярская</a:t>
            </a:r>
            <a:r>
              <a:rPr sz="17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1700" b="1" i="0" dirty="0" err="1">
                <a:solidFill>
                  <a:srgbClr val="2A2B2D"/>
                </a:solidFill>
                <a:latin typeface="Aptos"/>
              </a:rPr>
              <a:t>оппозиция</a:t>
            </a:r>
            <a:endParaRPr sz="17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53512" y="1719072"/>
            <a:ext cx="41148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417320"/>
            <a:ext cx="2331720" cy="1051560"/>
          </a:xfrm>
          <a:prstGeom prst="roundRect">
            <a:avLst/>
          </a:prstGeom>
          <a:solidFill>
            <a:srgbClr val="F2EBD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32" y="1603858"/>
            <a:ext cx="2148840" cy="68580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 dirty="0" err="1">
                <a:solidFill>
                  <a:srgbClr val="2A2B2D"/>
                </a:solidFill>
                <a:latin typeface="Aptos"/>
              </a:rPr>
              <a:t>Подозрения</a:t>
            </a:r>
            <a:r>
              <a:rPr sz="17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1700" b="1" i="0" dirty="0" err="1">
                <a:solidFill>
                  <a:srgbClr val="2A2B2D"/>
                </a:solidFill>
                <a:latin typeface="Aptos"/>
              </a:rPr>
              <a:t>в</a:t>
            </a:r>
            <a:r>
              <a:rPr sz="17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2A2B2D"/>
                </a:solidFill>
                <a:latin typeface="Aptos"/>
              </a:rPr>
              <a:t>измене</a:t>
            </a:r>
            <a:endParaRPr sz="17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2431" y="1719072"/>
            <a:ext cx="41148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2331720" cy="1051560"/>
          </a:xfrm>
          <a:prstGeom prst="roundRect">
            <a:avLst/>
          </a:prstGeom>
          <a:solidFill>
            <a:srgbClr val="E6ED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9182" y="1597000"/>
            <a:ext cx="2148840" cy="68580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 dirty="0" err="1">
                <a:solidFill>
                  <a:srgbClr val="2A2B2D"/>
                </a:solidFill>
                <a:latin typeface="Aptos"/>
              </a:rPr>
              <a:t>Политический</a:t>
            </a:r>
            <a:r>
              <a:rPr sz="17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1700" b="1" i="0" dirty="0" err="1">
                <a:solidFill>
                  <a:srgbClr val="2A2B2D"/>
                </a:solidFill>
                <a:latin typeface="Aptos"/>
              </a:rPr>
              <a:t>кризис</a:t>
            </a:r>
            <a:endParaRPr sz="17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31352" y="1719072"/>
            <a:ext cx="41148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8" y="1417320"/>
            <a:ext cx="2697481" cy="1051560"/>
          </a:xfrm>
          <a:prstGeom prst="roundRect">
            <a:avLst/>
          </a:prstGeom>
          <a:solidFill>
            <a:srgbClr val="E7EF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8488" y="1536192"/>
            <a:ext cx="2148840" cy="68580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700" b="1" i="0" dirty="0" err="1">
                <a:solidFill>
                  <a:srgbClr val="2A2B2D"/>
                </a:solidFill>
                <a:latin typeface="Aptos"/>
              </a:rPr>
              <a:t>Усиление</a:t>
            </a:r>
            <a:r>
              <a:rPr sz="17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1700" b="1" i="0" dirty="0" err="1">
                <a:solidFill>
                  <a:srgbClr val="2A2B2D"/>
                </a:solidFill>
                <a:latin typeface="Aptos"/>
              </a:rPr>
              <a:t>самодержавной</a:t>
            </a:r>
            <a:r>
              <a:rPr sz="17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700" b="1" i="0" dirty="0" err="1">
                <a:solidFill>
                  <a:srgbClr val="2A2B2D"/>
                </a:solidFill>
                <a:latin typeface="Aptos"/>
              </a:rPr>
              <a:t>власти</a:t>
            </a:r>
            <a:endParaRPr sz="17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D09125A-1393-67A8-5C9A-F1738D182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025" y="2617908"/>
            <a:ext cx="3108833" cy="378600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E389D506-9C0B-3A59-2073-5B21C0E71649}"/>
              </a:ext>
            </a:extLst>
          </p:cNvPr>
          <p:cNvSpPr txBox="1"/>
          <p:nvPr/>
        </p:nvSpPr>
        <p:spPr>
          <a:xfrm>
            <a:off x="7392922" y="6160770"/>
            <a:ext cx="3088261" cy="243143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 dirty="0" err="1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Иван</a:t>
            </a:r>
            <a:r>
              <a:rPr sz="1100" b="1" i="0" dirty="0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 IV </a:t>
            </a:r>
            <a:r>
              <a:rPr sz="1100" b="1" i="0" dirty="0" err="1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и</a:t>
            </a:r>
            <a:r>
              <a:rPr sz="1100" b="1" i="0" dirty="0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 </a:t>
            </a:r>
            <a:r>
              <a:rPr sz="1100" b="1" i="0" dirty="0" err="1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Малюта</a:t>
            </a:r>
            <a:r>
              <a:rPr sz="1100" b="1" i="0" dirty="0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 </a:t>
            </a:r>
            <a:r>
              <a:rPr sz="1100" b="1" i="0" dirty="0" err="1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Скуратов</a:t>
            </a:r>
            <a:r>
              <a:rPr sz="1100" b="1" i="0" dirty="0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 • </a:t>
            </a:r>
            <a:r>
              <a:rPr sz="1100" b="1" i="0" dirty="0" err="1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Г</a:t>
            </a:r>
            <a:r>
              <a:rPr sz="1100" b="1" i="0" dirty="0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. </a:t>
            </a:r>
            <a:r>
              <a:rPr sz="1100" b="1" i="0" dirty="0" err="1">
                <a:solidFill>
                  <a:schemeClr val="bg1"/>
                </a:solidFill>
                <a:highlight>
                  <a:srgbClr val="808080"/>
                </a:highlight>
                <a:latin typeface="Aptos"/>
              </a:rPr>
              <a:t>Седов</a:t>
            </a:r>
            <a:endParaRPr sz="1100" b="1" i="0" dirty="0">
              <a:solidFill>
                <a:schemeClr val="bg1"/>
              </a:solidFill>
              <a:highlight>
                <a:srgbClr val="808080"/>
              </a:highlight>
              <a:latin typeface="Aptos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A1E3378-3099-E77B-2F37-BF7EF7045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142" y="2576830"/>
            <a:ext cx="3583940" cy="3583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Опричнина: что это?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246888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87612B"/>
                </a:solidFill>
                <a:latin typeface="Aptos"/>
              </a:rPr>
              <a:t>1565–1572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4389120" cy="8686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A2B2D"/>
                </a:solidFill>
                <a:latin typeface="Aptos"/>
              </a:rPr>
              <a:t>Особый удел и система управления,
выделенные в ведение царя.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5074920" cy="2148840"/>
          </a:xfrm>
          <a:prstGeom prst="roundRect">
            <a:avLst/>
          </a:prstGeom>
          <a:solidFill>
            <a:srgbClr val="F5E8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709160" cy="3657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2A2B2D"/>
                </a:solidFill>
                <a:latin typeface="Aptos"/>
              </a:rPr>
              <a:t>ОПРИЧНИНА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69080"/>
            <a:ext cx="434340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0" i="0">
                <a:solidFill>
                  <a:srgbClr val="2A2B2D"/>
                </a:solidFill>
                <a:latin typeface="Aptos"/>
              </a:rPr>
              <a:t>царский двор • опричные земли
особые служилые люди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154680"/>
            <a:ext cx="5074920" cy="2148840"/>
          </a:xfrm>
          <a:prstGeom prst="roundRect">
            <a:avLst/>
          </a:prstGeom>
          <a:solidFill>
            <a:srgbClr val="E6ED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429000"/>
            <a:ext cx="4709160" cy="3657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2A2B2D"/>
                </a:solidFill>
                <a:latin typeface="Aptos"/>
              </a:rPr>
              <a:t>ЗЕМЩИНА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069080"/>
            <a:ext cx="452628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700" b="0" i="0">
                <a:solidFill>
                  <a:srgbClr val="2A2B2D"/>
                </a:solidFill>
                <a:latin typeface="Aptos"/>
              </a:rPr>
              <a:t>остальная территория
традиционные органы управления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687568"/>
            <a:ext cx="640080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6E6F72"/>
                </a:solidFill>
                <a:latin typeface="Aptos"/>
              </a:rPr>
              <a:t>разделение территории и аппарата управления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45F7729-3B55-04A7-3D75-653B62489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80" y="212629"/>
            <a:ext cx="3495014" cy="27820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Цели введения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56232"/>
            <a:ext cx="5166360" cy="1572768"/>
          </a:xfrm>
          <a:prstGeom prst="roundRect">
            <a:avLst/>
          </a:prstGeom>
          <a:solidFill>
            <a:srgbClr val="F5E8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084832"/>
            <a:ext cx="50292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A2B2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75688"/>
            <a:ext cx="3931920" cy="10058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2A2B2D"/>
                </a:solidFill>
                <a:latin typeface="Aptos"/>
              </a:rPr>
              <a:t>Сломить
«измену»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56232"/>
            <a:ext cx="5166360" cy="1572768"/>
          </a:xfrm>
          <a:prstGeom prst="roundRect">
            <a:avLst/>
          </a:prstGeom>
          <a:solidFill>
            <a:srgbClr val="F2EBD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2084832"/>
            <a:ext cx="50292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A2B2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75688"/>
            <a:ext cx="3931920" cy="10058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2A2B2D"/>
                </a:solidFill>
                <a:latin typeface="Aptos"/>
              </a:rPr>
              <a:t>Укрепить
личную власть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2192"/>
            <a:ext cx="5166360" cy="1572768"/>
          </a:xfrm>
          <a:prstGeom prst="roundRect">
            <a:avLst/>
          </a:prstGeom>
          <a:solidFill>
            <a:srgbClr val="E6ED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050792"/>
            <a:ext cx="50292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A2B2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41648"/>
            <a:ext cx="3931920" cy="10058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2A2B2D"/>
                </a:solidFill>
                <a:latin typeface="Aptos"/>
              </a:rPr>
              <a:t>Перераспределить
земли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22192"/>
            <a:ext cx="5166360" cy="1572768"/>
          </a:xfrm>
          <a:prstGeom prst="roundRect">
            <a:avLst/>
          </a:prstGeom>
          <a:solidFill>
            <a:srgbClr val="E7EF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4050792"/>
            <a:ext cx="50292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2A2B2D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041648"/>
            <a:ext cx="3931920" cy="10058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l"/>
            <a:r>
              <a:rPr sz="2000" b="1" i="0">
                <a:solidFill>
                  <a:srgbClr val="2A2B2D"/>
                </a:solidFill>
                <a:latin typeface="Aptos"/>
              </a:rPr>
              <a:t>Создать опору
царя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Опричники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107692"/>
            <a:ext cx="393192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300" b="1" i="0" dirty="0">
                <a:solidFill>
                  <a:srgbClr val="7B2B2D"/>
                </a:solidFill>
                <a:latin typeface="Aptos"/>
              </a:rPr>
              <a:t>ОПРИЧНОЕ ВОЙСКО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747771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47771"/>
            <a:ext cx="475488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2B2D"/>
                </a:solidFill>
                <a:latin typeface="Aptos"/>
              </a:rPr>
              <a:t>служилые люди, подчинённые царю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268980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68980"/>
            <a:ext cx="493776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2B2D"/>
                </a:solidFill>
                <a:latin typeface="Aptos"/>
              </a:rPr>
              <a:t>охрана двора + карательные функции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90188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790188"/>
            <a:ext cx="457200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2B2D"/>
                </a:solidFill>
                <a:latin typeface="Aptos"/>
              </a:rPr>
              <a:t>конфискации, аресты, казни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311396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311396"/>
            <a:ext cx="457200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2B2D"/>
                </a:solidFill>
                <a:latin typeface="Aptos"/>
              </a:rPr>
              <a:t>к 1570-м — расширение состава и роли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AFA702D-A078-388B-FD7F-6794B8EEB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34440"/>
            <a:ext cx="6459218" cy="42722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 dirty="0" err="1">
                <a:solidFill>
                  <a:srgbClr val="2A2B2D"/>
                </a:solidFill>
                <a:latin typeface="Aptos"/>
              </a:rPr>
              <a:t>Основные</a:t>
            </a:r>
            <a:r>
              <a:rPr sz="27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2A2B2D"/>
                </a:solidFill>
                <a:latin typeface="Aptos"/>
              </a:rPr>
              <a:t>мероприятия</a:t>
            </a:r>
            <a:endParaRPr sz="27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0070" y="1688679"/>
            <a:ext cx="2423160" cy="365760"/>
          </a:xfrm>
          <a:prstGeom prst="roundRect">
            <a:avLst/>
          </a:prstGeom>
          <a:solidFill>
            <a:srgbClr val="7B2B2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0070" y="1697823"/>
            <a:ext cx="2423160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7F4ED"/>
                </a:solidFill>
                <a:latin typeface="Aptos"/>
              </a:rPr>
              <a:t>ЗЕМЛИ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" y="2237318"/>
            <a:ext cx="2148840" cy="8229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выделение
опричных территорий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0662" y="2118447"/>
            <a:ext cx="36576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30" y="1688679"/>
            <a:ext cx="2423160" cy="365760"/>
          </a:xfrm>
          <a:prstGeom prst="roundRect">
            <a:avLst/>
          </a:prstGeom>
          <a:solidFill>
            <a:srgbClr val="87612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40430" y="1697823"/>
            <a:ext cx="2423160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7F4ED"/>
                </a:solidFill>
                <a:latin typeface="Aptos"/>
              </a:rPr>
              <a:t>ПЕРЕСЕЛЕНИЯ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7590" y="2237318"/>
            <a:ext cx="2148840" cy="8229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перемещение
служилых людей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1022" y="2118447"/>
            <a:ext cx="36576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0790" y="1688679"/>
            <a:ext cx="2423160" cy="365760"/>
          </a:xfrm>
          <a:prstGeom prst="roundRect">
            <a:avLst/>
          </a:prstGeom>
          <a:solidFill>
            <a:srgbClr val="39506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0790" y="1697823"/>
            <a:ext cx="2423160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7F4ED"/>
                </a:solidFill>
                <a:latin typeface="Aptos"/>
              </a:rPr>
              <a:t>КОНФИСКАЦИИ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2237318"/>
            <a:ext cx="2148840" cy="8229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земли и
имущество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1382" y="2118447"/>
            <a:ext cx="36576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1150" y="1688679"/>
            <a:ext cx="2423160" cy="365760"/>
          </a:xfrm>
          <a:prstGeom prst="roundRect">
            <a:avLst/>
          </a:prstGeom>
          <a:solidFill>
            <a:srgbClr val="3F5D46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1150" y="1697823"/>
            <a:ext cx="2423160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F7F4ED"/>
                </a:solidFill>
                <a:latin typeface="Aptos"/>
              </a:rPr>
              <a:t>РЕПРЕССИИ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8310" y="2237318"/>
            <a:ext cx="2148840" cy="82296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аресты • ссылки
• казни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5F79B2B-48D0-6114-2AF9-276A39C1C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3159689"/>
            <a:ext cx="4581842" cy="286712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61D4718-188E-0685-D138-B7A76F6D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035" y="3159689"/>
            <a:ext cx="4305510" cy="28671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 dirty="0" err="1">
                <a:solidFill>
                  <a:srgbClr val="2A2B2D"/>
                </a:solidFill>
                <a:latin typeface="Aptos"/>
              </a:rPr>
              <a:t>Новгородский</a:t>
            </a:r>
            <a:r>
              <a:rPr sz="27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700" b="1" i="0" dirty="0" err="1">
                <a:solidFill>
                  <a:srgbClr val="2A2B2D"/>
                </a:solidFill>
                <a:latin typeface="Aptos"/>
              </a:rPr>
              <a:t>поход</a:t>
            </a:r>
            <a:endParaRPr sz="2700" b="1" i="0" dirty="0">
              <a:solidFill>
                <a:srgbClr val="2A2B2D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246888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87612B"/>
                </a:solidFill>
                <a:latin typeface="Aptos"/>
              </a:rPr>
              <a:t>1569–1570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3720699" cy="65864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900" b="1" i="0" dirty="0" err="1">
                <a:solidFill>
                  <a:srgbClr val="2A2B2D"/>
                </a:solidFill>
                <a:latin typeface="Aptos"/>
              </a:rPr>
              <a:t>поход</a:t>
            </a:r>
            <a:r>
              <a:rPr sz="19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2A2B2D"/>
                </a:solidFill>
                <a:latin typeface="Aptos"/>
              </a:rPr>
              <a:t>царя</a:t>
            </a:r>
            <a:r>
              <a:rPr sz="19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2A2B2D"/>
                </a:solidFill>
                <a:latin typeface="Aptos"/>
              </a:rPr>
              <a:t>и</a:t>
            </a:r>
            <a:r>
              <a:rPr sz="19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2A2B2D"/>
                </a:solidFill>
                <a:latin typeface="Aptos"/>
              </a:rPr>
              <a:t>опричного</a:t>
            </a:r>
            <a:r>
              <a:rPr sz="19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2A2B2D"/>
                </a:solidFill>
                <a:latin typeface="Aptos"/>
              </a:rPr>
              <a:t>войска</a:t>
            </a:r>
            <a:r>
              <a:rPr sz="19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1900" b="1" i="0" dirty="0" err="1">
                <a:solidFill>
                  <a:srgbClr val="2A2B2D"/>
                </a:solidFill>
                <a:latin typeface="Aptos"/>
              </a:rPr>
              <a:t>на</a:t>
            </a:r>
            <a:r>
              <a:rPr sz="19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1900" b="1" i="0" dirty="0" err="1">
                <a:solidFill>
                  <a:srgbClr val="2A2B2D"/>
                </a:solidFill>
                <a:latin typeface="Aptos"/>
              </a:rPr>
              <a:t>Новгоро</a:t>
            </a:r>
            <a:r>
              <a:rPr lang="ru-RU" sz="1900" b="1" dirty="0">
                <a:solidFill>
                  <a:srgbClr val="2A2B2D"/>
                </a:solidFill>
                <a:latin typeface="Aptos"/>
              </a:rPr>
              <a:t>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1783080" cy="365760"/>
          </a:xfrm>
          <a:prstGeom prst="roundRect">
            <a:avLst/>
          </a:prstGeom>
          <a:solidFill>
            <a:srgbClr val="7B2B2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889503"/>
            <a:ext cx="1783080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зима 1569/70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916936"/>
            <a:ext cx="292608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A2B2D"/>
                </a:solidFill>
                <a:latin typeface="Aptos"/>
              </a:rPr>
              <a:t>аресты • казни • конфискации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44C531D-A92D-47AF-5E50-C3A633547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45" y="3525908"/>
            <a:ext cx="5126990" cy="268654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01EE62B-F9A9-BFAF-6A2F-E137AB750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865" y="3054095"/>
            <a:ext cx="5626735" cy="316503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C141997-34F6-6718-D480-563EF3024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745" y="200670"/>
            <a:ext cx="3947525" cy="26316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1571–1572: кризис и конец опричнины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37160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7B2B2D"/>
                </a:solidFill>
                <a:latin typeface="Aptos"/>
              </a:rPr>
              <a:t>1571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3246120" cy="1234440"/>
          </a:xfrm>
          <a:prstGeom prst="roundRect">
            <a:avLst/>
          </a:prstGeom>
          <a:solidFill>
            <a:srgbClr val="F9F9F8"/>
          </a:solidFill>
          <a:ln>
            <a:solidFill>
              <a:srgbClr val="7B2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297180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поход Девлет-Гирея
и пожар Москвы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2" y="2468880"/>
            <a:ext cx="36576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25880"/>
            <a:ext cx="137160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3F5D46"/>
                </a:solidFill>
                <a:latin typeface="Aptos"/>
              </a:rPr>
              <a:t>1572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246120" cy="1234440"/>
          </a:xfrm>
          <a:prstGeom prst="roundRect">
            <a:avLst/>
          </a:prstGeom>
          <a:solidFill>
            <a:srgbClr val="F9F9F8"/>
          </a:solidFill>
          <a:ln>
            <a:solidFill>
              <a:srgbClr val="3F5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267712"/>
            <a:ext cx="297180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битва при Молодях
и разгром крымского войска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2468880"/>
            <a:ext cx="365760" cy="2743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E6F72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325880"/>
            <a:ext cx="1371600" cy="50292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87612B"/>
                </a:solidFill>
                <a:latin typeface="Aptos"/>
              </a:rPr>
              <a:t>1572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057400"/>
            <a:ext cx="3246120" cy="1234440"/>
          </a:xfrm>
          <a:prstGeom prst="roundRect">
            <a:avLst/>
          </a:prstGeom>
          <a:solidFill>
            <a:srgbClr val="F9F9F8"/>
          </a:solidFill>
          <a:ln>
            <a:solidFill>
              <a:srgbClr val="876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267712"/>
            <a:ext cx="297180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2A2B2D"/>
                </a:solidFill>
                <a:latin typeface="Aptos"/>
              </a:rPr>
              <a:t>опричнина фактически
отменена; слово запрещено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D03B26B-1371-2624-5174-9C84110CC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0" y="3496165"/>
            <a:ext cx="3581400" cy="284465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1A3E0BB-B027-9B3B-1A6A-C0509CB09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820" y="3496165"/>
            <a:ext cx="4445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Итоги и последствия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34440"/>
            <a:ext cx="301752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7B2B2D"/>
                </a:solidFill>
                <a:latin typeface="Aptos"/>
              </a:rPr>
              <a:t>ОПРИЧНИНА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5166360" cy="1600200"/>
          </a:xfrm>
          <a:prstGeom prst="roundRect">
            <a:avLst/>
          </a:prstGeom>
          <a:solidFill>
            <a:srgbClr val="F2EBDE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30552"/>
            <a:ext cx="1280160" cy="3200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A2B2D"/>
                </a:solidFill>
                <a:latin typeface="Aptos"/>
              </a:rPr>
              <a:t>Политика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466344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A2B2D"/>
                </a:solidFill>
                <a:latin typeface="Aptos"/>
              </a:rPr>
              <a:t>усиление личной власти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65960"/>
            <a:ext cx="5166360" cy="1600200"/>
          </a:xfrm>
          <a:prstGeom prst="roundRect">
            <a:avLst/>
          </a:prstGeom>
          <a:solidFill>
            <a:srgbClr val="E6EDF4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130552"/>
            <a:ext cx="1280160" cy="3200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A2B2D"/>
                </a:solidFill>
                <a:latin typeface="Aptos"/>
              </a:rPr>
              <a:t>Хозяйство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60320"/>
            <a:ext cx="466344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A2B2D"/>
                </a:solidFill>
                <a:latin typeface="Aptos"/>
              </a:rPr>
              <a:t>разорение ряда земель
и спад хозяйственной активности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166360" cy="1600200"/>
          </a:xfrm>
          <a:prstGeom prst="roundRect">
            <a:avLst/>
          </a:prstGeom>
          <a:solidFill>
            <a:srgbClr val="F5E8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25112"/>
            <a:ext cx="1280160" cy="3200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A2B2D"/>
                </a:solidFill>
                <a:latin typeface="Aptos"/>
              </a:rPr>
              <a:t>Население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466344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A2B2D"/>
                </a:solidFill>
                <a:latin typeface="Aptos"/>
              </a:rPr>
              <a:t>переселения и
демографические потери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160520"/>
            <a:ext cx="5166360" cy="1600200"/>
          </a:xfrm>
          <a:prstGeom prst="roundRect">
            <a:avLst/>
          </a:prstGeom>
          <a:solidFill>
            <a:srgbClr val="E7EFE8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4325112"/>
            <a:ext cx="1280160" cy="3200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2A2B2D"/>
                </a:solidFill>
                <a:latin typeface="Aptos"/>
              </a:rPr>
              <a:t>Военное дело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754880"/>
            <a:ext cx="4663440" cy="7772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A2B2D"/>
                </a:solidFill>
                <a:latin typeface="Aptos"/>
              </a:rPr>
              <a:t>внутренний конфликт
ослаблял потенциал государства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Историческое значение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4670" y="347472"/>
            <a:ext cx="73930" cy="273921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r"/>
            <a:endParaRPr sz="1300" b="1" i="0" dirty="0">
              <a:solidFill>
                <a:srgbClr val="87612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632" y="1791080"/>
            <a:ext cx="4457700" cy="1181862"/>
          </a:xfrm>
          <a:prstGeom prst="rect">
            <a:avLst/>
          </a:prstGeom>
          <a:noFill/>
          <a:ln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 err="1">
                <a:solidFill>
                  <a:srgbClr val="2A2B2D"/>
                </a:solidFill>
                <a:latin typeface="Aptos"/>
              </a:rPr>
              <a:t>Опричнина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стала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одним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из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самых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жестоких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
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эпизодов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правления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</a:t>
            </a:r>
            <a:r>
              <a:rPr sz="2400" b="1" i="0" dirty="0" err="1">
                <a:solidFill>
                  <a:srgbClr val="2A2B2D"/>
                </a:solidFill>
                <a:latin typeface="Aptos"/>
              </a:rPr>
              <a:t>Ивана</a:t>
            </a:r>
            <a:r>
              <a:rPr sz="2400" b="1" i="0" dirty="0">
                <a:solidFill>
                  <a:srgbClr val="2A2B2D"/>
                </a:solidFill>
                <a:latin typeface="Aptos"/>
              </a:rPr>
              <a:t> IV.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87612B"/>
                </a:solidFill>
                <a:latin typeface="Aptos"/>
              </a:rPr>
              <a:t>Она одновременно: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66344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2B2D"/>
                </a:solidFill>
                <a:latin typeface="Aptos"/>
              </a:rPr>
              <a:t>укрепила личную власть царя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33087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484632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2B2D"/>
                </a:solidFill>
                <a:latin typeface="Aptos"/>
              </a:rPr>
              <a:t>усилила репрессивный характер режима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54296"/>
            <a:ext cx="228600" cy="25603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87612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54296"/>
            <a:ext cx="4937760" cy="411480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A2B2D"/>
                </a:solidFill>
                <a:latin typeface="Aptos"/>
              </a:rPr>
              <a:t>нанесла тяжёлый ущерб части территорий и хозяйству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B3AF43-1C31-FFE6-1F95-9D02B93A7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526590"/>
            <a:ext cx="5212080" cy="38048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69848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2A2B2D"/>
                </a:solidFill>
                <a:latin typeface="Aptos"/>
              </a:rPr>
              <a:t>Проверьте себя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61872"/>
            <a:ext cx="475488" cy="365760"/>
          </a:xfrm>
          <a:prstGeom prst="roundRect">
            <a:avLst/>
          </a:prstGeom>
          <a:solidFill>
            <a:srgbClr val="7B2B2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71016"/>
            <a:ext cx="475488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1280160"/>
            <a:ext cx="4663440" cy="34747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A2B2D"/>
                </a:solidFill>
                <a:latin typeface="Aptos"/>
              </a:rPr>
              <a:t>В каком году введена опричнина?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764792"/>
            <a:ext cx="466344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E6F72"/>
                </a:solidFill>
                <a:latin typeface="Aptos"/>
              </a:rPr>
              <a:t>А 1550   Б 1565   В 1572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61872"/>
            <a:ext cx="475488" cy="365760"/>
          </a:xfrm>
          <a:prstGeom prst="roundRect">
            <a:avLst/>
          </a:prstGeom>
          <a:solidFill>
            <a:srgbClr val="39506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71016"/>
            <a:ext cx="475488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1280160"/>
            <a:ext cx="4663440" cy="34747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A2B2D"/>
                </a:solidFill>
                <a:latin typeface="Aptos"/>
              </a:rPr>
              <a:t>Что было разделено на опричнину и земщину?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6288" y="1764792"/>
            <a:ext cx="466344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E6F72"/>
                </a:solidFill>
                <a:latin typeface="Aptos"/>
              </a:rPr>
              <a:t>А Армия   Б Государство   В Церковь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34639"/>
            <a:ext cx="475488" cy="365760"/>
          </a:xfrm>
          <a:prstGeom prst="roundRect">
            <a:avLst/>
          </a:prstGeom>
          <a:solidFill>
            <a:srgbClr val="7B2B2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843783"/>
            <a:ext cx="475488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2852927"/>
            <a:ext cx="4663440" cy="34747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A2B2D"/>
                </a:solidFill>
                <a:latin typeface="Aptos"/>
              </a:rPr>
              <a:t>Кто такие опричники?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3337559"/>
            <a:ext cx="466344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E6F72"/>
                </a:solidFill>
                <a:latin typeface="Aptos"/>
              </a:rPr>
              <a:t>А Духовенство   Б Особые служилые люди   В Иностранные наёмники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34639"/>
            <a:ext cx="475488" cy="365760"/>
          </a:xfrm>
          <a:prstGeom prst="roundRect">
            <a:avLst/>
          </a:prstGeom>
          <a:solidFill>
            <a:srgbClr val="39506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843783"/>
            <a:ext cx="475488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852927"/>
            <a:ext cx="4663440" cy="34747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A2B2D"/>
                </a:solidFill>
                <a:latin typeface="Aptos"/>
              </a:rPr>
              <a:t>Что произошло в Новгороде в 1569–1570 гг.?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337559"/>
            <a:ext cx="466344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E6F72"/>
                </a:solidFill>
                <a:latin typeface="Aptos"/>
              </a:rPr>
              <a:t>А Земский собор   Б Опричный поход и репрессии   В Мир со Швецией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07408"/>
            <a:ext cx="475488" cy="365760"/>
          </a:xfrm>
          <a:prstGeom prst="roundRect">
            <a:avLst/>
          </a:prstGeom>
          <a:solidFill>
            <a:srgbClr val="7B2B2D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416552"/>
            <a:ext cx="475488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425696"/>
            <a:ext cx="4663440" cy="34747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A2B2D"/>
                </a:solidFill>
                <a:latin typeface="Aptos"/>
              </a:rPr>
              <a:t>Какое событие стало переломом в 1571–1572 гг.?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910328"/>
            <a:ext cx="466344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E6F72"/>
                </a:solidFill>
                <a:latin typeface="Aptos"/>
              </a:rPr>
              <a:t>А Поход Девлет-Гирея и битва при Молодях   Б Взятие Казани   В Стоглавый собор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07408"/>
            <a:ext cx="475488" cy="365760"/>
          </a:xfrm>
          <a:prstGeom prst="roundRect">
            <a:avLst/>
          </a:prstGeom>
          <a:solidFill>
            <a:srgbClr val="39506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4416552"/>
            <a:ext cx="475488" cy="329184"/>
          </a:xfrm>
          <a:prstGeom prst="rect">
            <a:avLst/>
          </a:prstGeom>
          <a:noFill/>
          <a:ln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7F4E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425696"/>
            <a:ext cx="4663440" cy="347472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2A2B2D"/>
                </a:solidFill>
                <a:latin typeface="Aptos"/>
              </a:rPr>
              <a:t>Когда опричнина фактически прекратила существование?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4910328"/>
            <a:ext cx="4663440" cy="566928"/>
          </a:xfrm>
          <a:prstGeom prst="rect">
            <a:avLst/>
          </a:prstGeom>
          <a:noFill/>
          <a:ln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E6F72"/>
                </a:solidFill>
                <a:latin typeface="Aptos"/>
              </a:rPr>
              <a:t>А 1558   Б 1569   В 1572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9672"/>
            <a:ext cx="11155680" cy="10972"/>
          </a:xfrm>
          <a:prstGeom prst="rect">
            <a:avLst/>
          </a:prstGeom>
          <a:solidFill>
            <a:srgbClr val="DCDCDA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422</Words>
  <Application>Microsoft Macintosh PowerPoint</Application>
  <PresentationFormat>Widescreen</PresentationFormat>
  <Paragraphs>113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Деспотический этап правления Ивана Грозного.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</dc:creator>
  <cp:lastModifiedBy>Igor</cp:lastModifiedBy>
  <cp:revision>13</cp:revision>
  <dcterms:created xsi:type="dcterms:W3CDTF">2026-10-05T16:35:38Z</dcterms:created>
  <dcterms:modified xsi:type="dcterms:W3CDTF">2026-10-05T17:23:06Z</dcterms:modified>
</cp:coreProperties>
</file>